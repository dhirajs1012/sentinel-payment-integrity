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6"/>
  </p:normalViewPr>
  <p:slideViewPr>
    <p:cSldViewPr snapToGrid="0" snapToObjects="1">
      <p:cViewPr varScale="1">
        <p:scale>
          <a:sx n="105" d="100"/>
          <a:sy n="105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05840" y="1554480"/>
            <a:ext cx="868680" cy="868680"/>
          </a:xfrm>
          <a:prstGeom prst="roundRect">
            <a:avLst>
              <a:gd name="adj" fmla="val 20000"/>
            </a:avLst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Inter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0604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800" b="1">
                <a:solidFill>
                  <a:srgbClr val="1A1F36"/>
                </a:solidFill>
                <a:latin typeface="Inter"/>
              </a:rPr>
              <a:t>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474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>
                <a:solidFill>
                  <a:srgbClr val="635BFF"/>
                </a:solidFill>
                <a:latin typeface="Inter"/>
              </a:rPr>
              <a:t>Agentic GenAI for Payment Integrity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0233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97386"/>
                </a:solidFill>
                <a:latin typeface="Inter"/>
              </a:rPr>
              <a:t>An LLM reasoning layer on top of unsupervised anomaly detection for Treatment, Payment, and Operations claims.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12064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A1F36"/>
                </a:solidFill>
                <a:latin typeface="Inter"/>
              </a:rPr>
              <a:t>Dhiraj Salunkhe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39496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97386"/>
                </a:solidFill>
                <a:latin typeface="Inter"/>
              </a:rPr>
              <a:t>University of Pennsylvania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65099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97386"/>
                </a:solidFill>
                <a:latin typeface="Inter"/>
              </a:rPr>
              <a:t>Cotiviti Intern Assessment  ·  June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512064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E6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900" b="1">
                <a:solidFill>
                  <a:srgbClr val="0E7C3A"/>
                </a:solidFill>
                <a:latin typeface="Inter"/>
              </a:rPr>
              <a:t>LIVE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544068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A1F36"/>
                </a:solidFill>
                <a:latin typeface="JetBrains Mono"/>
              </a:rPr>
              <a:t>sentinel-payment-integrity.streamlit.app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568756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JetBrains Mono"/>
              </a:rPr>
              <a:t>github.com/dhirajS1012/sentinel-payment-integrity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1480" y="118872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A1F36"/>
                </a:solidFill>
                <a:latin typeface="Inter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371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Inter"/>
              </a:rPr>
              <a:t>Cotiviti Intern Assessment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97386"/>
                </a:solidFill>
                <a:latin typeface="Inter"/>
              </a:rPr>
              <a:t>Sentinel  ·  Agentic Payment Integrity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565392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97386"/>
                </a:solidFill>
                <a:latin typeface="Inter"/>
              </a:rPr>
              <a:t>Dhiraj Salunkhe  ·  University of Pennsylvania  ·  2 /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A1F36"/>
                </a:solidFill>
                <a:latin typeface="Inter"/>
              </a:rPr>
              <a:t>Payment integrity is the bottleneck in healthcare claims processing.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97386"/>
                </a:solidFill>
                <a:latin typeface="Inter"/>
              </a:rPr>
              <a:t>Rule engines catch the obvious. The expensive losses live in the long tail.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057400"/>
            <a:ext cx="35204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240280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635BFF"/>
                </a:solidFill>
                <a:latin typeface="Inter"/>
              </a:rPr>
              <a:t>$300B+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17520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97386"/>
                </a:solidFill>
                <a:latin typeface="Inter"/>
              </a:rPr>
              <a:t>Annual U.S. improper payments across payers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2057400"/>
            <a:ext cx="35204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63440" y="2240280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B85C00"/>
                </a:solidFill>
                <a:latin typeface="Inter"/>
              </a:rPr>
              <a:t>~15%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017520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97386"/>
                </a:solidFill>
                <a:latin typeface="Inter"/>
              </a:rPr>
              <a:t>Of claims need integrity review after auto-adjudication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057400"/>
            <a:ext cx="35204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2240280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697386"/>
                </a:solidFill>
                <a:latin typeface="Inter"/>
              </a:rPr>
              <a:t>hours -&gt;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017520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97386"/>
                </a:solidFill>
                <a:latin typeface="Inter"/>
              </a:rPr>
              <a:t>Typical analyst handle time for a complex flagged claim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1148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A1F36"/>
                </a:solidFill>
                <a:latin typeface="Inter"/>
              </a:rPr>
              <a:t>Where rule engines fall short</a:t>
            </a:r>
          </a:p>
        </p:txBody>
      </p:sp>
      <p:sp>
        <p:nvSpPr>
          <p:cNvPr id="23" name="Oval 22"/>
          <p:cNvSpPr/>
          <p:nvPr/>
        </p:nvSpPr>
        <p:spPr>
          <a:xfrm>
            <a:off x="713232" y="4645152"/>
            <a:ext cx="73152" cy="73152"/>
          </a:xfrm>
          <a:prstGeom prst="ellipse">
            <a:avLst/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5262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A1F36"/>
                </a:solidFill>
                <a:latin typeface="Inter"/>
              </a:rPr>
              <a:t>Static rules miss provider-specific billing patterns that emerge over time.</a:t>
            </a:r>
          </a:p>
        </p:txBody>
      </p:sp>
      <p:sp>
        <p:nvSpPr>
          <p:cNvPr id="25" name="Oval 24"/>
          <p:cNvSpPr/>
          <p:nvPr/>
        </p:nvSpPr>
        <p:spPr>
          <a:xfrm>
            <a:off x="713232" y="5010912"/>
            <a:ext cx="73152" cy="73152"/>
          </a:xfrm>
          <a:prstGeom prst="ellipse">
            <a:avLst/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48920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A1F36"/>
                </a:solidFill>
                <a:latin typeface="Inter"/>
              </a:rPr>
              <a:t>Flag-and-forward queues bury analysts in cases without explanation.</a:t>
            </a:r>
          </a:p>
        </p:txBody>
      </p:sp>
      <p:sp>
        <p:nvSpPr>
          <p:cNvPr id="27" name="Oval 26"/>
          <p:cNvSpPr/>
          <p:nvPr/>
        </p:nvSpPr>
        <p:spPr>
          <a:xfrm>
            <a:off x="713232" y="5376672"/>
            <a:ext cx="73152" cy="73152"/>
          </a:xfrm>
          <a:prstGeom prst="ellipse">
            <a:avLst/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52578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A1F36"/>
                </a:solidFill>
                <a:latin typeface="Inter"/>
              </a:rPr>
              <a:t>Adversarial fraud (AI-assisted upcoding, synthetic documentation) outpaces rule updates.</a:t>
            </a:r>
          </a:p>
        </p:txBody>
      </p:sp>
      <p:sp>
        <p:nvSpPr>
          <p:cNvPr id="29" name="Oval 28"/>
          <p:cNvSpPr/>
          <p:nvPr/>
        </p:nvSpPr>
        <p:spPr>
          <a:xfrm>
            <a:off x="713232" y="5742432"/>
            <a:ext cx="73152" cy="73152"/>
          </a:xfrm>
          <a:prstGeom prst="ellipse">
            <a:avLst/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56235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A1F36"/>
                </a:solidFill>
                <a:latin typeface="Inter"/>
              </a:rPr>
              <a:t>Provider abrasion grows when denials lack a clear, policy-grounded rationale.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1480" y="118872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A1F36"/>
                </a:solidFill>
                <a:latin typeface="Inter"/>
              </a:rPr>
              <a:t>Why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371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Inter"/>
              </a:rPr>
              <a:t>Cotiviti Intern Assessment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97386"/>
                </a:solidFill>
                <a:latin typeface="Inter"/>
              </a:rPr>
              <a:t>Sentinel  ·  Agentic Payment Integrity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565392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97386"/>
                </a:solidFill>
                <a:latin typeface="Inter"/>
              </a:rPr>
              <a:t>Dhiraj Salunkhe  ·  University of Pennsylvania  ·  3 /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7772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A1F36"/>
                </a:solidFill>
                <a:latin typeface="Inter"/>
              </a:rPr>
              <a:t>Payers are moving agentic AI from experiment to core strategy.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97386"/>
                </a:solidFill>
                <a:latin typeface="Inter"/>
              </a:rPr>
              <a:t>Three independent signals from 2026 point at the same shift.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194560"/>
            <a:ext cx="36118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2194560"/>
            <a:ext cx="54864" cy="3200400"/>
          </a:xfrm>
          <a:prstGeom prst="rect">
            <a:avLst/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468880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635BFF"/>
                </a:solidFill>
                <a:latin typeface="Inter"/>
              </a:rPr>
              <a:t>80%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383280"/>
            <a:ext cx="30632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A1F36"/>
                </a:solidFill>
                <a:latin typeface="Inter"/>
              </a:rPr>
              <a:t>of healthcare executives expect agentic and generative AI to deliver moderate-to-significant value in 2026.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98348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Inter"/>
              </a:rPr>
              <a:t>Deloitte 2026 US Health Care Outlook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2194560"/>
            <a:ext cx="36118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434840" y="2194560"/>
            <a:ext cx="54864" cy="3200400"/>
          </a:xfrm>
          <a:prstGeom prst="rect">
            <a:avLst/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0" y="2468880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635BFF"/>
                </a:solidFill>
                <a:latin typeface="Inter"/>
              </a:rPr>
              <a:t>98%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383280"/>
            <a:ext cx="30632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A1F36"/>
                </a:solidFill>
                <a:latin typeface="Inter"/>
              </a:rPr>
              <a:t>of those executives expect at least 10% cost savings from agentic AI deployment.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98348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Inter"/>
              </a:rPr>
              <a:t>Deloitte 2026 US Health Care Outlook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2194560"/>
            <a:ext cx="36118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29600" y="2194560"/>
            <a:ext cx="54864" cy="3200400"/>
          </a:xfrm>
          <a:prstGeom prst="rect">
            <a:avLst/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49640" y="2468880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635BFF"/>
                </a:solidFill>
                <a:latin typeface="Inter"/>
              </a:rPr>
              <a:t>Core strategy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3383280"/>
            <a:ext cx="30632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A1F36"/>
                </a:solidFill>
                <a:latin typeface="Inter"/>
              </a:rPr>
              <a:t>Gartner 2026 projects U.S. payers move agentic AI out of experimentation under cost and regulatory pressure.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498348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Inter"/>
              </a:rPr>
              <a:t>Gartner 2026 (via Cohere Health)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97386"/>
                </a:solidFill>
                <a:latin typeface="Inter"/>
              </a:rPr>
              <a:t>The pattern Cotiviti's own materials describe: AI as a tool that supports expert reviewers, not a replacement for clinical judgment.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1480" y="118872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A1F36"/>
                </a:solidFill>
                <a:latin typeface="Inter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371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Inter"/>
              </a:rPr>
              <a:t>Cotiviti Intern Assessment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97386"/>
                </a:solidFill>
                <a:latin typeface="Inter"/>
              </a:rPr>
              <a:t>Sentinel  ·  Agentic Payment Integrity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565392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97386"/>
                </a:solidFill>
                <a:latin typeface="Inter"/>
              </a:rPr>
              <a:t>Dhiraj Salunkhe  ·  University of Pennsylvania  ·  4 /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7772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A1F36"/>
                </a:solidFill>
                <a:latin typeface="Inter"/>
              </a:rPr>
              <a:t>Sentinel: a two-stage pipeline.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97386"/>
                </a:solidFill>
                <a:latin typeface="Inter"/>
              </a:rPr>
              <a:t>Classical ML scores every claim. The agent reasons only about the flagged tail.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5207" y="2286000"/>
            <a:ext cx="2286000" cy="2103120"/>
          </a:xfrm>
          <a:prstGeom prst="rect">
            <a:avLst/>
          </a:prstGeom>
          <a:solidFill>
            <a:srgbClr val="FFFFFF"/>
          </a:solidFill>
          <a:ln w="1524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2367" y="2514600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A1F36"/>
                </a:solidFill>
                <a:latin typeface="Inter"/>
              </a:rPr>
              <a:t>Synthetic
claims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2367" y="3337560"/>
            <a:ext cx="2011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97386"/>
                </a:solidFill>
                <a:latin typeface="JetBrains Mono"/>
              </a:rPr>
              <a:t>510 rows
10 planted
anomalies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334359" y="3246120"/>
            <a:ext cx="219456" cy="182880"/>
          </a:xfrm>
          <a:prstGeom prst="rightArrow">
            <a:avLst/>
          </a:prstGeom>
          <a:solidFill>
            <a:srgbClr val="6973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26967" y="2286000"/>
            <a:ext cx="2286000" cy="2103120"/>
          </a:xfrm>
          <a:prstGeom prst="rect">
            <a:avLst/>
          </a:prstGeom>
          <a:solidFill>
            <a:srgbClr val="EFE9FF"/>
          </a:solidFill>
          <a:ln w="15240">
            <a:solidFill>
              <a:srgbClr val="63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64127" y="2514600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A1F36"/>
                </a:solidFill>
                <a:latin typeface="Inter"/>
              </a:rPr>
              <a:t>IsolationForest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4127" y="3337560"/>
            <a:ext cx="2011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97386"/>
                </a:solidFill>
                <a:latin typeface="JetBrains Mono"/>
              </a:rPr>
              <a:t>7 features
300 estimators
contamination 0.04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86119" y="3246120"/>
            <a:ext cx="219456" cy="182880"/>
          </a:xfrm>
          <a:prstGeom prst="rightArrow">
            <a:avLst/>
          </a:prstGeom>
          <a:solidFill>
            <a:srgbClr val="6973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78727" y="2286000"/>
            <a:ext cx="2286000" cy="2103120"/>
          </a:xfrm>
          <a:prstGeom prst="rect">
            <a:avLst/>
          </a:prstGeom>
          <a:solidFill>
            <a:srgbClr val="635BFF"/>
          </a:solidFill>
          <a:ln w="15240">
            <a:solidFill>
              <a:srgbClr val="63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15887" y="2514600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Inter"/>
              </a:rPr>
              <a:t>Gemini
reasoning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5887" y="3337560"/>
            <a:ext cx="2011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JetBrains Mono"/>
              </a:rPr>
              <a:t>JSON output
policy grounding
rate-paced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637879" y="3246120"/>
            <a:ext cx="219456" cy="182880"/>
          </a:xfrm>
          <a:prstGeom prst="rightArrow">
            <a:avLst/>
          </a:prstGeom>
          <a:solidFill>
            <a:srgbClr val="6973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30487" y="2286000"/>
            <a:ext cx="2286000" cy="2103120"/>
          </a:xfrm>
          <a:prstGeom prst="rect">
            <a:avLst/>
          </a:prstGeom>
          <a:solidFill>
            <a:srgbClr val="FFFFFF"/>
          </a:solidFill>
          <a:ln w="1524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67647" y="2514600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A1F36"/>
                </a:solidFill>
                <a:latin typeface="Inter"/>
              </a:rPr>
              <a:t>Structured
decision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67647" y="3337560"/>
            <a:ext cx="2011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97386"/>
                </a:solidFill>
                <a:latin typeface="JetBrains Mono"/>
              </a:rPr>
              <a:t>clear
investigate
escalate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937760"/>
            <a:ext cx="109728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63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68680" y="512064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E6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900" b="1">
                <a:solidFill>
                  <a:srgbClr val="0E7C3A"/>
                </a:solidFill>
                <a:latin typeface="Inter"/>
              </a:rPr>
              <a:t>LIVE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4406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A1F36"/>
                </a:solidFill>
                <a:latin typeface="JetBrains Mono"/>
              </a:rPr>
              <a:t>sentinel-payment-integrity.streamlit.app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897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97386"/>
                </a:solidFill>
                <a:latin typeface="Inter"/>
              </a:rPr>
              <a:t>Public Streamlit Cloud deployment. Synthetic data only. Reviewer can click Run Agent to trigger Gemini reasoning end-to-end.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1480" y="118872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A1F36"/>
                </a:solidFill>
                <a:latin typeface="Inter"/>
              </a:rPr>
              <a:t>POC in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371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Inter"/>
              </a:rPr>
              <a:t>Cotiviti Intern Assessment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97386"/>
                </a:solidFill>
                <a:latin typeface="Inter"/>
              </a:rPr>
              <a:t>Sentinel  ·  Agentic Payment Integrity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565392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97386"/>
                </a:solidFill>
                <a:latin typeface="Inter"/>
              </a:rPr>
              <a:t>Dhiraj Salunkhe  ·  University of Pennsylvania  ·  5 /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7772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A1F36"/>
                </a:solidFill>
                <a:latin typeface="Inter"/>
              </a:rPr>
              <a:t>One claim, two policy violations, structured decision.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97386"/>
                </a:solidFill>
                <a:latin typeface="Inter"/>
              </a:rPr>
              <a:t>A real Gemini decision from the live deployment.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011680"/>
            <a:ext cx="566928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2011680"/>
            <a:ext cx="54864" cy="4206240"/>
          </a:xfrm>
          <a:prstGeom prst="rect">
            <a:avLst/>
          </a:prstGeom>
          <a:solidFill>
            <a:srgbClr val="B8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2402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A1F36"/>
                </a:solidFill>
                <a:latin typeface="JetBrains Mono"/>
              </a:rPr>
              <a:t>CLM-000504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2258568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900" b="1">
                <a:solidFill>
                  <a:srgbClr val="B85C00"/>
                </a:solidFill>
                <a:latin typeface="Inter"/>
              </a:rPr>
              <a:t>INVESTIGATE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2860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Inter"/>
              </a:rPr>
              <a:t>Confidence 95%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69748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97386"/>
                </a:solidFill>
                <a:latin typeface="JetBrains Mono"/>
              </a:rPr>
              <a:t>27447  ·  Total knee arthroplasty  ·  1 unit  ·  $199,946.88  ·  PRV-9999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108960"/>
            <a:ext cx="51206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A1F36"/>
                </a:solidFill>
                <a:latin typeface="Inter"/>
              </a:rPr>
              <a:t>The claim triggers policy P-201 because a major elective joint replacement (CPT 27447) was billed for a 36-year-old member, which is under the age threshold of 40 and requires medical necessity documentation. It also triggers policy P-202 because a surgical procedure was billed with an office place-of-service code (POS 11), representing a coding inconsistency.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029200"/>
            <a:ext cx="548640" cy="274320"/>
          </a:xfrm>
          <a:prstGeom prst="roundRect">
            <a:avLst>
              <a:gd name="adj" fmla="val 20000"/>
            </a:avLst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635BFF"/>
                </a:solidFill>
                <a:latin typeface="JetBrains Mono"/>
              </a:rPr>
              <a:t>P-201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54480" y="5029200"/>
            <a:ext cx="548640" cy="274320"/>
          </a:xfrm>
          <a:prstGeom prst="roundRect">
            <a:avLst>
              <a:gd name="adj" fmla="val 20000"/>
            </a:avLst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635BFF"/>
                </a:solidFill>
                <a:latin typeface="JetBrains Mono"/>
              </a:rPr>
              <a:t>P-202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532120"/>
            <a:ext cx="5120640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623560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Inter"/>
              </a:rPr>
              <a:t>Next action: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623560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Inter"/>
              </a:rPr>
              <a:t>Refer to a payment integrity analyst to request medical necessity documentation and return the claim for place-of-service correction.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2011680"/>
            <a:ext cx="502920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630936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697386"/>
                </a:solidFill>
                <a:latin typeface="Inter"/>
              </a:rPr>
              <a:t>Agent decisions feed in the Sentinel console</a:t>
            </a:r>
          </a:p>
        </p:txBody>
      </p:sp>
      <p:pic>
        <p:nvPicPr>
          <p:cNvPr id="27" name="Picture 26" descr="Reasoning Agent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084832"/>
            <a:ext cx="4882896" cy="27410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1480" y="118872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A1F36"/>
                </a:solidFill>
                <a:latin typeface="Inter"/>
              </a:rPr>
              <a:t>Console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371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Inter"/>
              </a:rPr>
              <a:t>Cotiviti Intern Assessment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97386"/>
                </a:solidFill>
                <a:latin typeface="Inter"/>
              </a:rPr>
              <a:t>Sentinel  ·  Agentic Payment Integrity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565392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97386"/>
                </a:solidFill>
                <a:latin typeface="Inter"/>
              </a:rPr>
              <a:t>Dhiraj Salunkhe  ·  University of Pennsylvania  ·  6 /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7772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A1F36"/>
                </a:solidFill>
                <a:latin typeface="Inter"/>
              </a:rPr>
              <a:t>Operator surface, not a Jupyter notebook.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97386"/>
                </a:solidFill>
                <a:latin typeface="Inter"/>
              </a:rPr>
              <a:t>Four workspaces: Overview, Detector, Reasoning Agent, Policy Library.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011680"/>
            <a:ext cx="54864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084832"/>
            <a:ext cx="5340096" cy="29862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" y="61264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697386"/>
                </a:solidFill>
                <a:latin typeface="Inter"/>
              </a:rPr>
              <a:t>Overview: pipeline health, scoring distribution, CPT volume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2011680"/>
            <a:ext cx="54864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Dete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2084832"/>
            <a:ext cx="5340096" cy="29859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55080" y="61264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697386"/>
                </a:solidFill>
                <a:latin typeface="Inter"/>
              </a:rPr>
              <a:t>Detector: flagged vs normal, top providers by flagged count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1480" y="118872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A1F36"/>
                </a:solidFill>
                <a:latin typeface="Inter"/>
              </a:rPr>
              <a:t>Strategic options for Cotiviti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371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Inter"/>
              </a:rPr>
              <a:t>Cotiviti Intern Assessment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97386"/>
                </a:solidFill>
                <a:latin typeface="Inter"/>
              </a:rPr>
              <a:t>Sentinel  ·  Agentic Payment Integrity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565392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97386"/>
                </a:solidFill>
                <a:latin typeface="Inter"/>
              </a:rPr>
              <a:t>Dhiraj Salunkhe  ·  University of Pennsylvania  ·  7 /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7772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A1F36"/>
                </a:solidFill>
                <a:latin typeface="Inter"/>
              </a:rPr>
              <a:t>Two product paths that compound Cotiviti's existing advantage.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97386"/>
                </a:solidFill>
                <a:latin typeface="Inter"/>
              </a:rPr>
              <a:t>Both keep humans in the loop, both are buildable on existing data assets, both are defensible to regulators.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103120"/>
            <a:ext cx="54864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2103120"/>
            <a:ext cx="54864" cy="4114800"/>
          </a:xfrm>
          <a:prstGeom prst="rect">
            <a:avLst/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3317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635BFF"/>
                </a:solidFill>
                <a:latin typeface="Inter"/>
              </a:rPr>
              <a:t>Option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606040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A1F36"/>
                </a:solidFill>
                <a:latin typeface="Inter"/>
              </a:rPr>
              <a:t>Embed an agentic reasoning layer on top of existing payment integrity products.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" y="3822192"/>
            <a:ext cx="73152" cy="73152"/>
          </a:xfrm>
          <a:prstGeom prst="ellipse">
            <a:avLst/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88720" y="3703320"/>
            <a:ext cx="4663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A1F36"/>
                </a:solidFill>
                <a:latin typeface="Inter"/>
              </a:rPr>
              <a:t>Wrap Data Mining, Clinical Chart Validation, and Coding Validation flags with the Gemini-style reasoner.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" y="4599432"/>
            <a:ext cx="73152" cy="73152"/>
          </a:xfrm>
          <a:prstGeom prst="ellipse">
            <a:avLst/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4480560"/>
            <a:ext cx="4663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A1F36"/>
                </a:solidFill>
                <a:latin typeface="Inter"/>
              </a:rPr>
              <a:t>Each flag arrives at a reviewer as a decision-ready package with policy citations.</a:t>
            </a:r>
          </a:p>
        </p:txBody>
      </p:sp>
      <p:sp>
        <p:nvSpPr>
          <p:cNvPr id="21" name="Oval 20"/>
          <p:cNvSpPr/>
          <p:nvPr/>
        </p:nvSpPr>
        <p:spPr>
          <a:xfrm>
            <a:off x="960120" y="5376672"/>
            <a:ext cx="73152" cy="73152"/>
          </a:xfrm>
          <a:prstGeom prst="ellipse">
            <a:avLst/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88720" y="5257800"/>
            <a:ext cx="4663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A1F36"/>
                </a:solidFill>
                <a:latin typeface="Inter"/>
              </a:rPr>
              <a:t>Compress analyst handle time without removing human adjudication.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2103120"/>
            <a:ext cx="54864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55080" y="2103120"/>
            <a:ext cx="54864" cy="4114800"/>
          </a:xfrm>
          <a:prstGeom prst="rect">
            <a:avLst/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29400" y="23317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635BFF"/>
                </a:solidFill>
                <a:latin typeface="Inter"/>
              </a:rPr>
              <a:t>Option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606040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A1F36"/>
                </a:solidFill>
                <a:latin typeface="Inter"/>
              </a:rPr>
              <a:t>Launch an "Agentic FWA Sentinel" service.</a:t>
            </a:r>
          </a:p>
        </p:txBody>
      </p:sp>
      <p:sp>
        <p:nvSpPr>
          <p:cNvPr id="27" name="Oval 26"/>
          <p:cNvSpPr/>
          <p:nvPr/>
        </p:nvSpPr>
        <p:spPr>
          <a:xfrm>
            <a:off x="6675120" y="3822192"/>
            <a:ext cx="73152" cy="73152"/>
          </a:xfrm>
          <a:prstGeom prst="ellipse">
            <a:avLst/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03720" y="3703320"/>
            <a:ext cx="4663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A1F36"/>
                </a:solidFill>
                <a:latin typeface="Inter"/>
              </a:rPr>
              <a:t>Combine provider-level time-series anomaly detection with the LLM reasoning layer.</a:t>
            </a:r>
          </a:p>
        </p:txBody>
      </p:sp>
      <p:sp>
        <p:nvSpPr>
          <p:cNvPr id="29" name="Oval 28"/>
          <p:cNvSpPr/>
          <p:nvPr/>
        </p:nvSpPr>
        <p:spPr>
          <a:xfrm>
            <a:off x="6675120" y="4599432"/>
            <a:ext cx="73152" cy="73152"/>
          </a:xfrm>
          <a:prstGeom prst="ellipse">
            <a:avLst/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03720" y="4480560"/>
            <a:ext cx="4663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A1F36"/>
                </a:solidFill>
                <a:latin typeface="Inter"/>
              </a:rPr>
              <a:t>Position as a forward-deployed capability against AI-assisted fraud and synthetic documentation.</a:t>
            </a:r>
          </a:p>
        </p:txBody>
      </p:sp>
      <p:sp>
        <p:nvSpPr>
          <p:cNvPr id="31" name="Oval 30"/>
          <p:cNvSpPr/>
          <p:nvPr/>
        </p:nvSpPr>
        <p:spPr>
          <a:xfrm>
            <a:off x="6675120" y="5376672"/>
            <a:ext cx="73152" cy="73152"/>
          </a:xfrm>
          <a:prstGeom prst="ellipse">
            <a:avLst/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03720" y="5257800"/>
            <a:ext cx="4663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A1F36"/>
                </a:solidFill>
                <a:latin typeface="Inter"/>
              </a:rPr>
              <a:t>Reinforces Cotiviti's "AI as tool, expert as decider" stance in the market.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1480" y="118872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A1F36"/>
                </a:solidFill>
                <a:latin typeface="Inter"/>
              </a:rPr>
              <a:t>Stack and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371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Inter"/>
              </a:rPr>
              <a:t>Cotiviti Intern Assessment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97386"/>
                </a:solidFill>
                <a:latin typeface="Inter"/>
              </a:rPr>
              <a:t>Sentinel  ·  Agentic Payment Integrity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565392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97386"/>
                </a:solidFill>
                <a:latin typeface="Inter"/>
              </a:rPr>
              <a:t>Dhiraj Salunkhe  ·  University of Pennsylvania  ·  8 /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7772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A1F36"/>
                </a:solidFill>
                <a:latin typeface="Inter"/>
              </a:rPr>
              <a:t>Built with restraint. One model, one framework, one host.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645920"/>
            <a:ext cx="50292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18288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A1F36"/>
                </a:solidFill>
                <a:latin typeface="Inter"/>
              </a:rPr>
              <a:t>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97386"/>
                </a:solidFill>
                <a:latin typeface="Inter"/>
              </a:rPr>
              <a:t>Language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2860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A1F36"/>
                </a:solidFill>
                <a:latin typeface="JetBrains Mono"/>
              </a:rPr>
              <a:t>Python 3.10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69748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97386"/>
                </a:solidFill>
                <a:latin typeface="Inter"/>
              </a:rPr>
              <a:t>Detector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6974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A1F36"/>
                </a:solidFill>
                <a:latin typeface="JetBrains Mono"/>
              </a:rPr>
              <a:t>scikit-learn IsolationForest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10896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97386"/>
                </a:solidFill>
                <a:latin typeface="Inter"/>
              </a:rPr>
              <a:t>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1089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A1F36"/>
                </a:solidFill>
                <a:latin typeface="JetBrains Mono"/>
              </a:rPr>
              <a:t>pandas, NumPy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2044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97386"/>
                </a:solidFill>
                <a:latin typeface="Inter"/>
              </a:rPr>
              <a:t>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35204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A1F36"/>
                </a:solidFill>
                <a:latin typeface="JetBrains Mono"/>
              </a:rPr>
              <a:t>Streamlit + Altair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93192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97386"/>
                </a:solidFill>
                <a:latin typeface="Inter"/>
              </a:rPr>
              <a:t>LLM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39319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A1F36"/>
                </a:solidFill>
                <a:latin typeface="JetBrains Mono"/>
              </a:rPr>
              <a:t>Google Generative AI SDK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3434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97386"/>
                </a:solidFill>
                <a:latin typeface="Inter"/>
              </a:rPr>
              <a:t>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3434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A1F36"/>
                </a:solidFill>
                <a:latin typeface="JetBrains Mono"/>
              </a:rPr>
              <a:t>gemini-flash-latest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75488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97386"/>
                </a:solidFill>
                <a:latin typeface="Inter"/>
              </a:rPr>
              <a:t>Hosting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47548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A1F36"/>
                </a:solidFill>
                <a:latin typeface="JetBrains Mono"/>
              </a:rPr>
              <a:t>Streamlit Community Cloud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16636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97386"/>
                </a:solidFill>
                <a:latin typeface="Inter"/>
              </a:rPr>
              <a:t>Repo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51663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A1F36"/>
                </a:solidFill>
                <a:latin typeface="JetBrains Mono"/>
              </a:rPr>
              <a:t>github.com/dhirajS1012/sentinel-payment-integrity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0" y="1645920"/>
            <a:ext cx="576072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80760" y="18288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A1F36"/>
                </a:solidFill>
                <a:latin typeface="Inter"/>
              </a:rPr>
              <a:t>References</a:t>
            </a:r>
          </a:p>
        </p:txBody>
      </p:sp>
      <p:sp>
        <p:nvSpPr>
          <p:cNvPr id="32" name="Oval 31"/>
          <p:cNvSpPr/>
          <p:nvPr/>
        </p:nvSpPr>
        <p:spPr>
          <a:xfrm>
            <a:off x="6126480" y="2404872"/>
            <a:ext cx="64008" cy="64008"/>
          </a:xfrm>
          <a:prstGeom prst="ellipse">
            <a:avLst/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09360" y="2331720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1A1F36"/>
                </a:solidFill>
                <a:latin typeface="Inter"/>
              </a:rPr>
              <a:t>Deloitte. 2026 US Health Care Outlook.</a:t>
            </a:r>
          </a:p>
        </p:txBody>
      </p:sp>
      <p:sp>
        <p:nvSpPr>
          <p:cNvPr id="34" name="Oval 33"/>
          <p:cNvSpPr/>
          <p:nvPr/>
        </p:nvSpPr>
        <p:spPr>
          <a:xfrm>
            <a:off x="6126480" y="2862072"/>
            <a:ext cx="64008" cy="64008"/>
          </a:xfrm>
          <a:prstGeom prst="ellipse">
            <a:avLst/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95644" y="2817876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1A1F36"/>
                </a:solidFill>
                <a:latin typeface="Inter"/>
              </a:rPr>
              <a:t>Cohere Health. Agentic AI for health plans (Gartner 2026 summary).</a:t>
            </a:r>
          </a:p>
        </p:txBody>
      </p:sp>
      <p:sp>
        <p:nvSpPr>
          <p:cNvPr id="36" name="Oval 35"/>
          <p:cNvSpPr/>
          <p:nvPr/>
        </p:nvSpPr>
        <p:spPr>
          <a:xfrm>
            <a:off x="6126480" y="3319272"/>
            <a:ext cx="64008" cy="64008"/>
          </a:xfrm>
          <a:prstGeom prst="ellipse">
            <a:avLst/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09360" y="3287649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A1F36"/>
                </a:solidFill>
                <a:latin typeface="Inter"/>
              </a:rPr>
              <a:t>Charta Health. Payer audit risk and AI, May 2026.</a:t>
            </a:r>
          </a:p>
        </p:txBody>
      </p:sp>
      <p:sp>
        <p:nvSpPr>
          <p:cNvPr id="38" name="Oval 37"/>
          <p:cNvSpPr/>
          <p:nvPr/>
        </p:nvSpPr>
        <p:spPr>
          <a:xfrm>
            <a:off x="6126480" y="3776472"/>
            <a:ext cx="64008" cy="64008"/>
          </a:xfrm>
          <a:prstGeom prst="ellipse">
            <a:avLst/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95644" y="3769233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A1F36"/>
                </a:solidFill>
                <a:latin typeface="Inter"/>
              </a:rPr>
              <a:t>Cotiviti. Future-proofing payment integrity, 2026.</a:t>
            </a:r>
          </a:p>
        </p:txBody>
      </p:sp>
      <p:sp>
        <p:nvSpPr>
          <p:cNvPr id="40" name="Oval 39"/>
          <p:cNvSpPr/>
          <p:nvPr/>
        </p:nvSpPr>
        <p:spPr>
          <a:xfrm>
            <a:off x="6126480" y="4233672"/>
            <a:ext cx="64008" cy="64008"/>
          </a:xfrm>
          <a:prstGeom prst="ellipse">
            <a:avLst/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95644" y="4183761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A1F36"/>
                </a:solidFill>
                <a:latin typeface="Inter"/>
              </a:rPr>
              <a:t>Cotiviti. The practical landscape of AI in payment integrity and VBP.</a:t>
            </a:r>
          </a:p>
        </p:txBody>
      </p:sp>
      <p:sp>
        <p:nvSpPr>
          <p:cNvPr id="42" name="Oval 41"/>
          <p:cNvSpPr/>
          <p:nvPr/>
        </p:nvSpPr>
        <p:spPr>
          <a:xfrm>
            <a:off x="6126480" y="4690872"/>
            <a:ext cx="64008" cy="64008"/>
          </a:xfrm>
          <a:prstGeom prst="ellipse">
            <a:avLst/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95644" y="4646676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A1F36"/>
                </a:solidFill>
                <a:latin typeface="Inter"/>
              </a:rPr>
              <a:t>Frontiers in CS &amp; AI. AI-driven payment integrity modeling, March 2026.</a:t>
            </a:r>
          </a:p>
        </p:txBody>
      </p:sp>
      <p:sp>
        <p:nvSpPr>
          <p:cNvPr id="44" name="Oval 43"/>
          <p:cNvSpPr/>
          <p:nvPr/>
        </p:nvSpPr>
        <p:spPr>
          <a:xfrm>
            <a:off x="6126480" y="5148072"/>
            <a:ext cx="64008" cy="64008"/>
          </a:xfrm>
          <a:prstGeom prst="ellipse">
            <a:avLst/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95644" y="5088636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1A1F36"/>
                </a:solidFill>
                <a:latin typeface="Inter"/>
              </a:rPr>
              <a:t>ITIJ. AI deepfake detection for synthetic claims fraud, March 2026.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172200"/>
            <a:ext cx="12191695" cy="320040"/>
          </a:xfrm>
          <a:prstGeom prst="rect">
            <a:avLst/>
          </a:prstGeom>
          <a:solidFill>
            <a:srgbClr val="63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" y="6245352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Thank you  ·  Dhiraj Salunkhe  ·  dhirajsalunkhe349@gmail.com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960</Words>
  <Application>Microsoft Macintosh PowerPoint</Application>
  <PresentationFormat>Widescreen</PresentationFormat>
  <Paragraphs>138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Inter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Microsoft Office User</cp:lastModifiedBy>
  <cp:revision>2</cp:revision>
  <dcterms:created xsi:type="dcterms:W3CDTF">2013-01-27T09:14:16Z</dcterms:created>
  <dcterms:modified xsi:type="dcterms:W3CDTF">2026-06-28T02:53:48Z</dcterms:modified>
  <cp:category/>
</cp:coreProperties>
</file>